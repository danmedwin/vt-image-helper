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6"/>
    <p:sldId id="258" r:id="rId78"/>
    <p:sldId id="259" r:id="rId79"/>
    <p:sldId id="260" r:id="rId80"/>
    <p:sldId id="261" r:id="rId81"/>
    <p:sldId id="262" r:id="rId82"/>
    <p:sldId id="263" r:id="rId83"/>
    <p:sldId id="264" r:id="rId84"/>
    <p:sldId id="265" r:id="rId85"/>
    <p:sldId id="266" r:id="rId86"/>
    <p:sldId id="267" r:id="rId87"/>
    <p:sldId id="268" r:id="rId48"/>
  </p:sldIdLst>
  <p:sldSz cx="18288000" cy="10287000"/>
  <p:notesSz cx="6858000" cy="9144000"/>
  <p:embeddedFontLst>
    <p:embeddedFont>
      <p:font typeface="Arimo Italics" panose="020B0604020202090204" pitchFamily="34" charset="0"/>
      <p:regular r:id="rId50"/>
      <p:italic r:id="rId51"/>
    </p:embeddedFont>
    <p:embeddedFont>
      <p:font typeface="Avallon Caps" pitchFamily="2" charset="0"/>
      <p:regular r:id="rId52"/>
    </p:embeddedFont>
    <p:embeddedFont>
      <p:font typeface="Bukhari Script" pitchFamily="2" charset="77"/>
      <p:regular r:id="rId53"/>
    </p:embeddedFont>
    <p:embeddedFont>
      <p:font typeface="Calibri (MS)" panose="020F0502020204030204" pitchFamily="34" charset="0"/>
      <p:regular r:id="rId54"/>
    </p:embeddedFont>
    <p:embeddedFont>
      <p:font typeface="Calibri (MS) Bold" panose="020F0702030404030204" pitchFamily="34" charset="0"/>
      <p:regular r:id="rId55"/>
      <p:bold r:id="rId56"/>
    </p:embeddedFont>
    <p:embeddedFont>
      <p:font typeface="Calibri (MS) Italics" panose="020F05020202040A0204" pitchFamily="34" charset="0"/>
      <p:regular r:id="rId57"/>
      <p:italic r:id="rId58"/>
    </p:embeddedFont>
    <p:embeddedFont>
      <p:font typeface="Canva Sans" panose="020B0503030501040103" pitchFamily="34" charset="0"/>
      <p:regular r:id="rId59"/>
    </p:embeddedFont>
    <p:embeddedFont>
      <p:font typeface="Canva Sans Italics" panose="020B0503030501040103" pitchFamily="34" charset="0"/>
      <p:regular r:id="rId60"/>
      <p:italic r:id="rId61"/>
    </p:embeddedFont>
    <p:embeddedFont>
      <p:font typeface="David Libre" pitchFamily="2" charset="-79"/>
      <p:regular r:id="rId62"/>
      <p:bold r:id="rId63"/>
    </p:embeddedFont>
    <p:embeddedFont>
      <p:font typeface="FB FRealBelet" panose="02020803050405020304" pitchFamily="18" charset="-79"/>
      <p:regular r:id="rId64"/>
      <p:bold r:id="rId65"/>
    </p:embeddedFont>
    <p:embeddedFont>
      <p:font typeface="Gladiola" pitchFamily="2" charset="77"/>
      <p:regular r:id="rId66"/>
    </p:embeddedFont>
    <p:embeddedFont>
      <p:font typeface="Helvetica Bold" pitchFamily="2" charset="0"/>
      <p:italic r:id="rId67"/>
      <p:boldItalic r:id="rId68"/>
    </p:embeddedFont>
    <p:embeddedFont>
      <p:font typeface="Neoneon" panose="02000503000000000000" pitchFamily="2" charset="0"/>
      <p:regular r:id="rId69"/>
    </p:embeddedFont>
    <p:embeddedFont>
      <p:font typeface="Pinata Marks Rough Shadow" panose="02000506000000020003" pitchFamily="2" charset="77"/>
      <p:regular r:id="rId70"/>
    </p:embeddedFont>
    <p:embeddedFont>
      <p:font typeface="TAN Headline" pitchFamily="2" charset="0"/>
      <p:regular r:id="rId71"/>
    </p:embeddedFont>
    <p:embeddedFont>
      <p:font typeface="Times New Roman MT" panose="02030502070405020303" pitchFamily="18" charset="77"/>
      <p:regular r:id="rId72"/>
    </p:embeddedFont>
    <p:embeddedFont>
      <p:font typeface="TT Berlinerins" panose="02000506040000020004" pitchFamily="2" charset="77"/>
      <p:regular r:id="rId7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47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 autoAdjust="0"/>
    <p:restoredTop sz="94585" autoAdjust="0"/>
  </p:normalViewPr>
  <p:slideViewPr>
    <p:cSldViewPr>
      <p:cViewPr varScale="1">
        <p:scale>
          <a:sx n="75" d="100"/>
          <a:sy n="75" d="100"/>
        </p:scale>
        <p:origin x="55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6" Type="http://schemas.openxmlformats.org/officeDocument/2006/relationships/slide" Target="slides/slide2.xml"/><Relationship Id="rId48" Type="http://schemas.openxmlformats.org/officeDocument/2006/relationships/slide" Target="slides/slide13.xml"/><Relationship Id="rId49" Type="http://schemas.openxmlformats.org/officeDocument/2006/relationships/notesMaster" Target="notesMasters/notesMaster1.xml"/><Relationship Id="rId50" Type="http://schemas.openxmlformats.org/officeDocument/2006/relationships/font" Target="fonts/font1.fntdata"/><Relationship Id="rId51" Type="http://schemas.openxmlformats.org/officeDocument/2006/relationships/font" Target="fonts/font2.fntdata"/><Relationship Id="rId52" Type="http://schemas.openxmlformats.org/officeDocument/2006/relationships/font" Target="fonts/font3.fntdata"/><Relationship Id="rId53" Type="http://schemas.openxmlformats.org/officeDocument/2006/relationships/font" Target="fonts/font4.fntdata"/><Relationship Id="rId54" Type="http://schemas.openxmlformats.org/officeDocument/2006/relationships/font" Target="fonts/font5.fntdata"/><Relationship Id="rId55" Type="http://schemas.openxmlformats.org/officeDocument/2006/relationships/font" Target="fonts/font6.fntdata"/><Relationship Id="rId56" Type="http://schemas.openxmlformats.org/officeDocument/2006/relationships/font" Target="fonts/font7.fntdata"/><Relationship Id="rId57" Type="http://schemas.openxmlformats.org/officeDocument/2006/relationships/font" Target="fonts/font8.fntdata"/><Relationship Id="rId58" Type="http://schemas.openxmlformats.org/officeDocument/2006/relationships/font" Target="fonts/font9.fntdata"/><Relationship Id="rId59" Type="http://schemas.openxmlformats.org/officeDocument/2006/relationships/font" Target="fonts/font10.fntdata"/><Relationship Id="rId60" Type="http://schemas.openxmlformats.org/officeDocument/2006/relationships/font" Target="fonts/font11.fntdata"/><Relationship Id="rId61" Type="http://schemas.openxmlformats.org/officeDocument/2006/relationships/font" Target="fonts/font12.fntdata"/><Relationship Id="rId62" Type="http://schemas.openxmlformats.org/officeDocument/2006/relationships/font" Target="fonts/font13.fntdata"/><Relationship Id="rId63" Type="http://schemas.openxmlformats.org/officeDocument/2006/relationships/font" Target="fonts/font14.fntdata"/><Relationship Id="rId64" Type="http://schemas.openxmlformats.org/officeDocument/2006/relationships/font" Target="fonts/font15.fntdata"/><Relationship Id="rId65" Type="http://schemas.openxmlformats.org/officeDocument/2006/relationships/font" Target="fonts/font16.fntdata"/><Relationship Id="rId66" Type="http://schemas.openxmlformats.org/officeDocument/2006/relationships/font" Target="fonts/font17.fntdata"/><Relationship Id="rId67" Type="http://schemas.openxmlformats.org/officeDocument/2006/relationships/font" Target="fonts/font18.fntdata"/><Relationship Id="rId68" Type="http://schemas.openxmlformats.org/officeDocument/2006/relationships/font" Target="fonts/font19.fntdata"/><Relationship Id="rId69" Type="http://schemas.openxmlformats.org/officeDocument/2006/relationships/font" Target="fonts/font20.fntdata"/><Relationship Id="rId70" Type="http://schemas.openxmlformats.org/officeDocument/2006/relationships/font" Target="fonts/font21.fntdata"/><Relationship Id="rId71" Type="http://schemas.openxmlformats.org/officeDocument/2006/relationships/font" Target="fonts/font22.fntdata"/><Relationship Id="rId72" Type="http://schemas.openxmlformats.org/officeDocument/2006/relationships/font" Target="fonts/font23.fntdata"/><Relationship Id="rId73" Type="http://schemas.openxmlformats.org/officeDocument/2006/relationships/font" Target="fonts/font24.fntdata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Relationship Id="rId78" Type="http://schemas.openxmlformats.org/officeDocument/2006/relationships/slide" Target="slides/slide3.xml"/><Relationship Id="rId79" Type="http://schemas.openxmlformats.org/officeDocument/2006/relationships/slide" Target="slides/slide4.xml"/><Relationship Id="rId80" Type="http://schemas.openxmlformats.org/officeDocument/2006/relationships/slide" Target="slides/slide5.xml"/><Relationship Id="rId81" Type="http://schemas.openxmlformats.org/officeDocument/2006/relationships/slide" Target="slides/slide6.xml"/><Relationship Id="rId82" Type="http://schemas.openxmlformats.org/officeDocument/2006/relationships/slide" Target="slides/slide7.xml"/><Relationship Id="rId83" Type="http://schemas.openxmlformats.org/officeDocument/2006/relationships/slide" Target="slides/slide8.xml"/><Relationship Id="rId84" Type="http://schemas.openxmlformats.org/officeDocument/2006/relationships/slide" Target="slides/slide9.xml"/><Relationship Id="rId85" Type="http://schemas.openxmlformats.org/officeDocument/2006/relationships/slide" Target="slides/slide10.xml"/><Relationship Id="rId86" Type="http://schemas.openxmlformats.org/officeDocument/2006/relationships/slide" Target="slides/slide11.xml"/><Relationship Id="rId8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 - Bim Bam. Leader: Micah. Opening niggun welcoming Shabbat. Music: Nurit Hirsh.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Video. Leader: Cristy. Content area left open - place the video here and set it to play full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Word sharing, round 1. Micah facilitates.  DRAFT PROMPTS - replace with the prompts from the printed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Candle blessing. Amy lights.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Word sharing, round 2. Micah facilitates.  DRAFT PROMPTS - replace with the prompts from the printed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Kiddush, short form over wine. Leader: Dan Medwin. The Davis template also carries the full Kiddush if a longer version is wanted.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Word sharing, round 3. Micah facilitates.  DRAFT PROMPTS - replace with the prompts from the printed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Hamotzi, blessing over bread. Leader: Micah.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Oseh Shalom. Leader: Micah.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Priestly Blessing, Numbers 6:24-26. Leaders: Micah, Javier, Michelle, and Emilie, one verse each with Micah 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Rocks slide. Leader: Micah. Content area left open - drop in the rocks image or text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9937" y="5640343"/>
            <a:ext cx="4668663" cy="4247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4"/>
              </a:lnSpc>
            </a:pP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lang="en-US" sz="815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iving</a:t>
            </a: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7924"/>
              </a:lnSpc>
            </a:pP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sz="815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</a:t>
            </a: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algn="l">
              <a:lnSpc>
                <a:spcPts val="7924"/>
              </a:lnSpc>
            </a:pP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</a:t>
            </a:r>
            <a:r>
              <a:rPr lang="en-US" sz="815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alues </a:t>
            </a:r>
          </a:p>
          <a:p>
            <a:pPr algn="l">
              <a:lnSpc>
                <a:spcPts val="7924"/>
              </a:lnSpc>
            </a:pPr>
            <a:r>
              <a:rPr lang="en-US" sz="8152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sz="8152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veryday</a:t>
            </a:r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319411" y="256349"/>
            <a:ext cx="3657600" cy="3657600"/>
            <a:chOff x="0" y="0"/>
            <a:chExt cx="3467947" cy="3467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467989" cy="3467989"/>
            </a:xfrm>
            <a:custGeom>
              <a:avLst/>
              <a:gdLst/>
              <a:ahLst/>
              <a:cxnLst/>
              <a:rect l="l" t="t" r="r" b="b"/>
              <a:pathLst>
                <a:path w="3467989" h="3467989">
                  <a:moveTo>
                    <a:pt x="0" y="0"/>
                  </a:moveTo>
                  <a:lnTo>
                    <a:pt x="3467989" y="0"/>
                  </a:lnTo>
                  <a:lnTo>
                    <a:pt x="3467989" y="3467989"/>
                  </a:lnTo>
                  <a:lnTo>
                    <a:pt x="0" y="3467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14543303" y="6630422"/>
            <a:ext cx="3257550" cy="3257550"/>
            <a:chOff x="0" y="0"/>
            <a:chExt cx="3088640" cy="308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88640" cy="3088640"/>
            </a:xfrm>
            <a:custGeom>
              <a:avLst/>
              <a:gdLst/>
              <a:ahLst/>
              <a:cxnLst/>
              <a:rect l="l" t="t" r="r" b="b"/>
              <a:pathLst>
                <a:path w="3088640" h="3088640">
                  <a:moveTo>
                    <a:pt x="0" y="0"/>
                  </a:moveTo>
                  <a:lnTo>
                    <a:pt x="3088640" y="0"/>
                  </a:lnTo>
                  <a:lnTo>
                    <a:pt x="3088640" y="3088640"/>
                  </a:lnTo>
                  <a:lnTo>
                    <a:pt x="0" y="308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61024" y="8014851"/>
            <a:ext cx="8327215" cy="187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29"/>
              </a:lnSpc>
            </a:pPr>
            <a:r>
              <a:rPr lang="en-US" sz="40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Learn our Shabbat prayers and songs!</a:t>
            </a:r>
          </a:p>
          <a:p>
            <a:pPr algn="ctr">
              <a:lnSpc>
                <a:spcPts val="4829"/>
              </a:lnSpc>
            </a:pPr>
            <a:r>
              <a:rPr lang="en-US" sz="40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The Davis Academy Shabbat and Jewish Music Playlist!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88600" y="1263603"/>
            <a:ext cx="9104598" cy="4811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153"/>
              </a:lnSpc>
            </a:pPr>
            <a:r>
              <a:rPr lang="en-US" sz="20628">
                <a:solidFill>
                  <a:srgbClr val="FFFFFF"/>
                </a:solidFill>
                <a:latin typeface="TT Berlinerins"/>
                <a:ea typeface="TT Berlinerins"/>
                <a:cs typeface="TT Berlinerins"/>
                <a:sym typeface="TT Berlinerins"/>
              </a:rPr>
              <a:t>Shabbat</a:t>
            </a:r>
          </a:p>
          <a:p>
            <a:pPr algn="ctr">
              <a:lnSpc>
                <a:spcPts val="18153"/>
              </a:lnSpc>
            </a:pPr>
            <a:r>
              <a:rPr lang="en-US" sz="20628">
                <a:solidFill>
                  <a:srgbClr val="FFFFFF"/>
                </a:solidFill>
                <a:latin typeface="TT Berlinerins"/>
                <a:ea typeface="TT Berlinerins"/>
                <a:cs typeface="TT Berlinerins"/>
                <a:sym typeface="TT Berlinerins"/>
              </a:rPr>
              <a:t>Shalom!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Bim bam, bim bim bim bam,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bim bim bim bim bim bam.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Shabbat shalom!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Shabbat, Shabbat, Shabbat,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Shabbat shalom!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בִּים בַּם, בִּים בִּים בִּים בַּם,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בִּים בִּים בִּים בִּים בִּים בַּם.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שַׁבָּת שָׁלוֹם!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שַׁבָּת, שַׁבָּת, שַׁבָּת,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שַׁבָּת שָׁלוֹם!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בִּים בַּם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peaceful Shabbat to you.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Something I am excited about this year is...</a:t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 I look at the year ahead, I am hoping for...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הַמִּלָּה הָאַחֲרוֹנָה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Baruch atah Adonai,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Eloheinu Melech ha'olam,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asher kid'shanu b'mitzvotav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v'tzivanu l'hadlik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ner shel Shabbat.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אַתָּה יְיָ,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אֱלֹהֵינוּ מֶלֶךְ הָעוֹלָם,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אֲשֶׁר קִדְּשָׁנוּ בְּמִצְוֹתָיו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וְצִוָּנוּ לְהַדְלִיק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נֵר שֶׁל שַׁבָּת.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הַדְלָקַת נֵרוֹת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 Blessing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Blessed are You, Adonai our God, Sovereign of all, who makes us holy with mitzvot and calls us to kindle the lights of Shabbat.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moment when a colleague really showed up for me was...</a:t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Something my team is celebrating this year is...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הַמִּלָּה הָאַחֲרוֹנָה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Baruch atah Adonai,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Eloheinu Melech ha'olam,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borei p'ri hagafen.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אַתָּה יְיָ,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אֱלֹהֵינוּ מֶלֶךְ הָעוֹלָם,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בּוֹרֵא פְּרִי הַגָּפֶן.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קִדּוּשׁ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Blessed are You, Adonai our God, Sovereign of all, Creator of the fruit of the vine.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risk I would like to take this year is...</a:t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blessing I want to carry into this year is...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הַמִּלָּה הָאַחֲרוֹנָה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Baruch atah Adonai,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Eloheinu Melech ha'olam,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hamotzi lechem min ha'aretz.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בָּרוּךְ אַתָּה יְיָ,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אֱלֹהֵינוּ מֶלֶךְ הָעוֹלָם,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הַמּוֹצִיא לֶחֶם מִן הָאָרֶץ.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הַמּוֹצִיא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Blessed are You, Adonai our God, Sovereign of all, who brings forth bread from the earth.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Oseh shalom bimromav,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hu ya'aseh shalom aleinu,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v'al kol Yisrael,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v'al kol yosh'vei teiveil,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v'imru: Amen.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עֹשֶׂה שָׁלוֹם בִּמְרוֹמָיו,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הוּא יַעֲשֶׂה שָׁלוֹם עָלֵינוּ,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וְעַל כָּל יִשְׂרָאֵל,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וְעַל כָּל יוֹשְׁבֵי תֵבֵל,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וְאִמְרוּ: אָמֵן.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עֹשֶׂה שָׁלוֹם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May the One who makes peace in the high heavens make peace for us, for all Israel, and for all who dwell on earth. And let us say: Amen.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8659" y="1020736"/>
            <a:ext cx="777240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Y'varech'cha Adonai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v'yishm'recha.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Ya'er Adonai panav eilecha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vichuneka.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Yisa Adonai panav eilecha</a:t>
            </a:r>
          </a:p>
          <a:p>
            <a:pPr algn="l">
              <a:lnSpc>
                <a:spcPts val="576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v'yasem l'cha shalom.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65588" y="1095006"/>
            <a:ext cx="5794490" cy="6438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יְבָרֶכְךָ יְיָ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וְיִשְׁמְרֶךָ.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יָאֵר יְיָ פָּנָיו אֵלֶיךָ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וִיחֻנֶּךָּ.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יִשָּׂא יְיָ פָּנָיו אֵלֶיךָ</a:t>
            </a:r>
          </a:p>
          <a:p>
            <a:pPr algn="r" rtl="1">
              <a:lnSpc>
                <a:spcPts val="5760"/>
              </a:lnSpc>
            </a:pPr>
            <a:r>
              <a:rPr lang="he-IL" sz="45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וְיָשֵׂם לְךָ שָׁלוֹם.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בִּרְכַּת כֹּהֲנִים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408659" y="8648677"/>
            <a:ext cx="13936542" cy="1395338"/>
            <a:chOff x="0" y="0"/>
            <a:chExt cx="13213907" cy="1322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213907" cy="1322987"/>
            </a:xfrm>
            <a:custGeom>
              <a:avLst/>
              <a:gdLst/>
              <a:ahLst/>
              <a:cxnLst/>
              <a:rect l="l" t="t" r="r" b="b"/>
              <a:pathLst>
                <a:path w="13213907" h="1322987">
                  <a:moveTo>
                    <a:pt x="0" y="0"/>
                  </a:moveTo>
                  <a:lnTo>
                    <a:pt x="13213907" y="0"/>
                  </a:lnTo>
                  <a:lnTo>
                    <a:pt x="13213907" y="1322987"/>
                  </a:lnTo>
                  <a:lnTo>
                    <a:pt x="0" y="1322987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13213907" cy="1389662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May Adonai bless you and protect you. May Adonai's face shine upon you and be gracious to you. May Adonai's face be lifted toward you and grant you peace.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57425" y="-28902"/>
            <a:ext cx="13773150" cy="742950"/>
            <a:chOff x="0" y="0"/>
            <a:chExt cx="13058987" cy="704427"/>
          </a:xfrm>
        </p:grpSpPr>
        <p:sp>
          <p:nvSpPr>
            <p:cNvPr id="3" name="Freeform 3"/>
            <p:cNvSpPr/>
            <p:nvPr/>
          </p:nvSpPr>
          <p:spPr>
            <a:xfrm>
              <a:off x="27051" y="27051"/>
              <a:ext cx="13004800" cy="650240"/>
            </a:xfrm>
            <a:custGeom>
              <a:avLst/>
              <a:gdLst/>
              <a:ahLst/>
              <a:cxnLst/>
              <a:rect l="l" t="t" r="r" b="b"/>
              <a:pathLst>
                <a:path w="13004800" h="650240">
                  <a:moveTo>
                    <a:pt x="0" y="0"/>
                  </a:moveTo>
                  <a:lnTo>
                    <a:pt x="13004800" y="0"/>
                  </a:lnTo>
                  <a:lnTo>
                    <a:pt x="130048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6933" y="-372"/>
            <a:ext cx="18271067" cy="685800"/>
          </a:xfrm>
          <a:custGeom>
            <a:avLst/>
            <a:gdLst/>
            <a:ahLst/>
            <a:cxnLst/>
            <a:rect l="l" t="t" r="r" b="b"/>
            <a:pathLst>
              <a:path w="17420780" h="650240">
                <a:moveTo>
                  <a:pt x="0" y="0"/>
                </a:moveTo>
                <a:lnTo>
                  <a:pt x="17420780" y="0"/>
                </a:lnTo>
                <a:lnTo>
                  <a:pt x="17420780" y="650240"/>
                </a:lnTo>
                <a:lnTo>
                  <a:pt x="0" y="650240"/>
                </a:lnTo>
                <a:close/>
              </a:path>
            </a:pathLst>
          </a:custGeom>
          <a:solidFill>
            <a:srgbClr val="008C95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4949576" y="675948"/>
            <a:ext cx="3338424" cy="9611052"/>
            <a:chOff x="0" y="0"/>
            <a:chExt cx="879256" cy="25313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79256" cy="2531306"/>
            </a:xfrm>
            <a:custGeom>
              <a:avLst/>
              <a:gdLst/>
              <a:ahLst/>
              <a:cxnLst/>
              <a:rect l="l" t="t" r="r" b="b"/>
              <a:pathLst>
                <a:path w="879256" h="2531306">
                  <a:moveTo>
                    <a:pt x="0" y="0"/>
                  </a:moveTo>
                  <a:lnTo>
                    <a:pt x="879256" y="0"/>
                  </a:lnTo>
                  <a:lnTo>
                    <a:pt x="879256" y="2531306"/>
                  </a:lnTo>
                  <a:lnTo>
                    <a:pt x="0" y="2531306"/>
                  </a:lnTo>
                  <a:close/>
                </a:path>
              </a:pathLst>
            </a:custGeom>
            <a:solidFill>
              <a:srgbClr val="008C9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79256" cy="256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506387" y="6523347"/>
            <a:ext cx="2224801" cy="2224801"/>
          </a:xfrm>
          <a:custGeom>
            <a:avLst/>
            <a:gdLst/>
            <a:ahLst/>
            <a:cxnLst/>
            <a:rect l="l" t="t" r="r" b="b"/>
            <a:pathLst>
              <a:path w="2224801" h="2224801">
                <a:moveTo>
                  <a:pt x="0" y="0"/>
                </a:moveTo>
                <a:lnTo>
                  <a:pt x="2224802" y="0"/>
                </a:lnTo>
                <a:lnTo>
                  <a:pt x="2224802" y="2224801"/>
                </a:lnTo>
                <a:lnTo>
                  <a:pt x="0" y="22248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11480" y="1020736"/>
            <a:ext cx="13990320" cy="653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en-US" sz="3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54745" y="-6042"/>
            <a:ext cx="6022703" cy="6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5250"/>
              </a:lnSpc>
            </a:pPr>
            <a:r>
              <a:rPr lang="he-IL" sz="4200">
                <a:solidFill>
                  <a:srgbClr val="FFFFFF"/>
                </a:solidFill>
                <a:latin typeface="David Libre"/>
                <a:ea typeface="David Libre"/>
                <a:cs typeface="David Libre"/>
                <a:sym typeface="David Libre"/>
                <a:rtl/>
              </a:rPr>
              <a:t>אֲבָנִים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60129" y="1166487"/>
            <a:ext cx="2717319" cy="459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Bim Bam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Video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Last Word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Candles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Kiddush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Hamotzi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Oseh Shalom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B8E3E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Priestly Blessing</a:t>
            </a:r>
          </a:p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8560" y="65157"/>
            <a:ext cx="6093401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3199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Rocks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3929" y="9361276"/>
            <a:ext cx="15480143" cy="508018"/>
            <a:chOff x="0" y="0"/>
            <a:chExt cx="13004800" cy="4267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4800" cy="426720"/>
            </a:xfrm>
            <a:custGeom>
              <a:avLst/>
              <a:gdLst/>
              <a:ahLst/>
              <a:cxnLst/>
              <a:rect l="l" t="t" r="r" b="b"/>
              <a:pathLst>
                <a:path w="13004800" h="426720">
                  <a:moveTo>
                    <a:pt x="0" y="0"/>
                  </a:moveTo>
                  <a:lnTo>
                    <a:pt x="13004800" y="0"/>
                  </a:lnTo>
                  <a:lnTo>
                    <a:pt x="13004800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403929" y="9361276"/>
            <a:ext cx="15480143" cy="508018"/>
            <a:chOff x="0" y="0"/>
            <a:chExt cx="13004800" cy="42678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004800" cy="426720"/>
            </a:xfrm>
            <a:custGeom>
              <a:avLst/>
              <a:gdLst/>
              <a:ahLst/>
              <a:cxnLst/>
              <a:rect l="l" t="t" r="r" b="b"/>
              <a:pathLst>
                <a:path w="13004800" h="426720">
                  <a:moveTo>
                    <a:pt x="0" y="0"/>
                  </a:moveTo>
                  <a:lnTo>
                    <a:pt x="13004800" y="0"/>
                  </a:lnTo>
                  <a:lnTo>
                    <a:pt x="13004800" y="426720"/>
                  </a:lnTo>
                  <a:lnTo>
                    <a:pt x="0" y="42672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099050" y="277095"/>
            <a:ext cx="6159807" cy="4096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7184" lvl="1" indent="-473592" algn="l">
              <a:lnSpc>
                <a:spcPts val="7153"/>
              </a:lnSpc>
              <a:buFont typeface="Arial"/>
              <a:buChar char="•"/>
            </a:pP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</a:t>
            </a:r>
            <a:r>
              <a:rPr lang="en-US" sz="73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iving</a:t>
            </a: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marL="947184" lvl="1" indent="-473592" algn="l">
              <a:lnSpc>
                <a:spcPts val="7153"/>
              </a:lnSpc>
              <a:buFont typeface="Arial"/>
              <a:buChar char="•"/>
            </a:pP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</a:t>
            </a:r>
            <a:r>
              <a:rPr lang="en-US" sz="73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ur</a:t>
            </a: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  <a:p>
            <a:pPr marL="947184" lvl="1" indent="-473592" algn="l">
              <a:lnSpc>
                <a:spcPts val="7153"/>
              </a:lnSpc>
              <a:buFont typeface="Arial"/>
              <a:buChar char="•"/>
            </a:pP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</a:t>
            </a:r>
            <a:r>
              <a:rPr lang="en-US" sz="73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alues </a:t>
            </a:r>
          </a:p>
          <a:p>
            <a:pPr marL="947184" lvl="1" indent="-473592" algn="l">
              <a:lnSpc>
                <a:spcPts val="7153"/>
              </a:lnSpc>
              <a:buFont typeface="Arial"/>
              <a:buChar char="•"/>
            </a:pPr>
            <a:r>
              <a:rPr lang="en-US" sz="7360" b="1">
                <a:solidFill>
                  <a:srgbClr val="2F5597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</a:t>
            </a:r>
            <a:r>
              <a:rPr lang="en-US" sz="736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veryday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4051879" y="195007"/>
            <a:ext cx="4128038" cy="4128038"/>
            <a:chOff x="0" y="0"/>
            <a:chExt cx="3467947" cy="346794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67989" cy="3467989"/>
            </a:xfrm>
            <a:custGeom>
              <a:avLst/>
              <a:gdLst/>
              <a:ahLst/>
              <a:cxnLst/>
              <a:rect l="l" t="t" r="r" b="b"/>
              <a:pathLst>
                <a:path w="3467989" h="3467989">
                  <a:moveTo>
                    <a:pt x="0" y="0"/>
                  </a:moveTo>
                  <a:lnTo>
                    <a:pt x="3467989" y="0"/>
                  </a:lnTo>
                  <a:lnTo>
                    <a:pt x="3467989" y="3467989"/>
                  </a:lnTo>
                  <a:lnTo>
                    <a:pt x="0" y="34679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1" b="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757729" y="6390060"/>
            <a:ext cx="3676534" cy="3676534"/>
            <a:chOff x="0" y="0"/>
            <a:chExt cx="3088640" cy="308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88640" cy="3088640"/>
            </a:xfrm>
            <a:custGeom>
              <a:avLst/>
              <a:gdLst/>
              <a:ahLst/>
              <a:cxnLst/>
              <a:rect l="l" t="t" r="r" b="b"/>
              <a:pathLst>
                <a:path w="3088640" h="3088640">
                  <a:moveTo>
                    <a:pt x="0" y="0"/>
                  </a:moveTo>
                  <a:lnTo>
                    <a:pt x="3088640" y="0"/>
                  </a:lnTo>
                  <a:lnTo>
                    <a:pt x="3088640" y="3088640"/>
                  </a:lnTo>
                  <a:lnTo>
                    <a:pt x="0" y="308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002727" y="6505923"/>
            <a:ext cx="9327592" cy="280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86"/>
              </a:lnSpc>
            </a:pPr>
            <a:r>
              <a:rPr lang="en-US" sz="457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Want to learn more of our Shabbat prayers and songs? Scan this QR code for The Davis Academy Shabbat and Jewish Music Playlist!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7366" y="4226067"/>
            <a:ext cx="14415883" cy="2258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77"/>
              </a:lnSpc>
            </a:pPr>
            <a:r>
              <a:rPr lang="en-US" sz="14897">
                <a:solidFill>
                  <a:srgbClr val="FFFFFF"/>
                </a:solidFill>
                <a:latin typeface="TT Berlinerins"/>
                <a:ea typeface="TT Berlinerins"/>
                <a:cs typeface="TT Berlinerins"/>
                <a:sym typeface="TT Berlinerins"/>
              </a:rPr>
              <a:t>Shabbat Shalom!</a:t>
            </a:r>
          </a:p>
        </p:txBody>
      </p:sp>
    </p:spTree>
  </p:cSld>
  <p:clrMapOvr>
    <a:masterClrMapping/>
  </p:clrMapOvr>
  <p:transition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6462</TotalTime>
  <Words>2070</Words>
  <Application>Microsoft Macintosh PowerPoint</Application>
  <PresentationFormat>Custom</PresentationFormat>
  <Paragraphs>429</Paragraphs>
  <Slides>47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70" baseType="lpstr">
      <vt:lpstr>Calibri (MS) Italics</vt:lpstr>
      <vt:lpstr>Neoneon</vt:lpstr>
      <vt:lpstr>Gladiola</vt:lpstr>
      <vt:lpstr>Canva Sans Italics</vt:lpstr>
      <vt:lpstr>Avallon Caps</vt:lpstr>
      <vt:lpstr>David Libre</vt:lpstr>
      <vt:lpstr>Arimo Italics</vt:lpstr>
      <vt:lpstr>Canva Sans</vt:lpstr>
      <vt:lpstr>Calibri (MS) Bold</vt:lpstr>
      <vt:lpstr>Helvetica Italics</vt:lpstr>
      <vt:lpstr>TT Berlinerins</vt:lpstr>
      <vt:lpstr>Calibri (MS)</vt:lpstr>
      <vt:lpstr>Helvetica Bold</vt:lpstr>
      <vt:lpstr>FB FRealBelet</vt:lpstr>
      <vt:lpstr>Arial</vt:lpstr>
      <vt:lpstr>Bukhari Script</vt:lpstr>
      <vt:lpstr>Calibri</vt:lpstr>
      <vt:lpstr>Pinata Marks Rough Shadow</vt:lpstr>
      <vt:lpstr>Helvetica Bold Italics</vt:lpstr>
      <vt:lpstr>Times New Roman MT</vt:lpstr>
      <vt:lpstr>Helvetica</vt:lpstr>
      <vt:lpstr>TAN Headline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VT Template (in progress w Claude)</dc:title>
  <cp:lastModifiedBy>Rabbi Dan Medwin</cp:lastModifiedBy>
  <cp:revision>5</cp:revision>
  <dcterms:created xsi:type="dcterms:W3CDTF">2006-08-16T00:00:00Z</dcterms:created>
  <dcterms:modified xsi:type="dcterms:W3CDTF">2026-08-06T14:46:58Z</dcterms:modified>
  <dc:identifier>DAHN9QH9Lxk</dc:identifier>
</cp:coreProperties>
</file>
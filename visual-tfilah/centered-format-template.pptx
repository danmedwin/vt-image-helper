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62" r:id="rId8"/>
  </p:sldIdLst>
  <p:sldSz cx="18288000" cy="10287000"/>
  <p:notesSz cx="6858000" cy="9144000"/>
  <p:embeddedFontLst>
    <p:embeddedFont>
      <p:font typeface="Calibri (MS)" panose="020F0502020204030204" pitchFamily="34" charset="0"/>
      <p:regular r:id="rId33"/>
    </p:embeddedFont>
    <p:embeddedFont>
      <p:font typeface="Calibri (MS) Bold" panose="020F0702030404030204" pitchFamily="34" charset="0"/>
      <p:regular r:id="rId34"/>
      <p:bold r:id="rId35"/>
    </p:embeddedFont>
    <p:embeddedFont>
      <p:font typeface="David Libre" pitchFamily="2" charset="-79"/>
      <p:regular r:id="rId36"/>
      <p:bold r:id="rId37"/>
    </p:embeddedFont>
    <p:embeddedFont>
      <p:font typeface="MF David" panose="02040603050201020203" pitchFamily="18" charset="-79"/>
      <p:regular r:id="rId38"/>
      <p:bold r:id="rId39"/>
    </p:embeddedFont>
    <p:embeddedFont>
      <p:font typeface="Pinata Marks Rough Shadow" panose="02000506000000020003" pitchFamily="2" charset="77"/>
      <p:regular r:id="rId40"/>
    </p:embeddedFont>
    <p:embeddedFont>
      <p:font typeface="Times New Roman MT" panose="02030502070405020303" pitchFamily="18" charset="77"/>
      <p:regular r:id="rId41"/>
    </p:embeddedFont>
    <p:embeddedFont>
      <p:font typeface="TT Berlinerins" panose="02000506040000020004" pitchFamily="2" charset="77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47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89" autoAdjust="0"/>
    <p:restoredTop sz="94522" autoAdjust="0"/>
  </p:normalViewPr>
  <p:slideViewPr>
    <p:cSldViewPr>
      <p:cViewPr varScale="1">
        <p:scale>
          <a:sx n="75" d="100"/>
          <a:sy n="75" d="100"/>
        </p:scale>
        <p:origin x="42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font" Target="fonts/font7.fntdata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36" Type="http://schemas.openxmlformats.org/officeDocument/2006/relationships/font" Target="fonts/font4.fntdata"/><Relationship Id="rId44" Type="http://schemas.openxmlformats.org/officeDocument/2006/relationships/viewProps" Target="viewProps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15511536" y="7791450"/>
            <a:ext cx="2222500" cy="2222500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105399" y="3599067"/>
            <a:ext cx="7849346" cy="180612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5760"/>
              </a:lnSpc>
            </a:pPr>
            <a:r>
              <a:rPr lang="en-US" sz="3600" dirty="0" err="1">
                <a:solidFill>
                  <a:srgbClr val="FFFFFF"/>
                </a:solidFill>
                <a:latin typeface="Calibri (MS)"/>
                <a:cs typeface="Calibri (MS)"/>
              </a:rPr>
              <a:t>Bar’chu</a:t>
            </a:r>
            <a:r>
              <a:rPr lang="en-US" sz="3600" dirty="0">
                <a:solidFill>
                  <a:srgbClr val="FFFFFF"/>
                </a:solidFill>
                <a:latin typeface="Calibri (MS)"/>
                <a:cs typeface="Calibri (MS)"/>
              </a:rPr>
              <a:t> et Adonai </a:t>
            </a:r>
            <a:r>
              <a:rPr lang="en-US" sz="3600" dirty="0" err="1">
                <a:solidFill>
                  <a:srgbClr val="FFFFFF"/>
                </a:solidFill>
                <a:latin typeface="Calibri (MS)"/>
                <a:cs typeface="Calibri (MS)"/>
              </a:rPr>
              <a:t>ham’vorach</a:t>
            </a:r>
            <a:r>
              <a:rPr lang="en-US" sz="3600" dirty="0">
                <a:solidFill>
                  <a:srgbClr val="FFFFFF"/>
                </a:solidFill>
                <a:latin typeface="Calibri (MS)"/>
                <a:cs typeface="Calibri (MS)"/>
              </a:rPr>
              <a:t>!</a:t>
            </a:r>
          </a:p>
          <a:p>
            <a:pPr algn="ctr">
              <a:lnSpc>
                <a:spcPts val="5760"/>
              </a:lnSpc>
            </a:pPr>
            <a:r>
              <a:rPr lang="en-US" sz="3600" dirty="0">
                <a:solidFill>
                  <a:srgbClr val="FFFFFF"/>
                </a:solidFill>
                <a:latin typeface="Calibri (MS)"/>
                <a:cs typeface="Calibri (MS)"/>
              </a:rPr>
              <a:t>Baruch Adonai </a:t>
            </a:r>
            <a:r>
              <a:rPr lang="en-US" sz="3600" dirty="0" err="1">
                <a:solidFill>
                  <a:srgbClr val="FFFFFF"/>
                </a:solidFill>
                <a:latin typeface="Calibri (MS)"/>
                <a:cs typeface="Calibri (MS)"/>
              </a:rPr>
              <a:t>ham’vorach</a:t>
            </a:r>
            <a:r>
              <a:rPr lang="en-US" sz="3600" dirty="0">
                <a:solidFill>
                  <a:srgbClr val="FFFFFF"/>
                </a:solidFill>
                <a:latin typeface="Calibri (MS)"/>
                <a:cs typeface="Calibri (MS)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 (MS)"/>
                <a:cs typeface="Calibri (MS)"/>
              </a:rPr>
              <a:t>l’olam</a:t>
            </a:r>
            <a:r>
              <a:rPr lang="en-US" sz="3600" dirty="0">
                <a:solidFill>
                  <a:srgbClr val="FFFFFF"/>
                </a:solidFill>
                <a:latin typeface="Calibri (MS)"/>
                <a:cs typeface="Calibri (MS)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 (MS)"/>
                <a:cs typeface="Calibri (MS)"/>
              </a:rPr>
              <a:t>va</a:t>
            </a:r>
            <a:r>
              <a:rPr lang="en-US" sz="3600" dirty="0">
                <a:solidFill>
                  <a:srgbClr val="FFFFFF"/>
                </a:solidFill>
                <a:latin typeface="Calibri (MS)"/>
                <a:cs typeface="Calibri (MS)"/>
              </a:rPr>
              <a:t>-ed!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37099" y="1630899"/>
            <a:ext cx="6611478" cy="196816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 rtl="1">
              <a:lnSpc>
                <a:spcPts val="5760"/>
              </a:lnSpc>
            </a:pPr>
            <a:r>
              <a:rPr lang="he-IL" sz="4500" dirty="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בָּרְכוּ אֶת יְיָ הַמְבֹרָךְ!</a:t>
            </a:r>
          </a:p>
          <a:p>
            <a:pPr algn="ctr" rtl="1">
              <a:lnSpc>
                <a:spcPts val="5760"/>
              </a:lnSpc>
            </a:pPr>
            <a:r>
              <a:rPr lang="he-IL" sz="4500" dirty="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בָּרוּךְ יְיָ הַמְבֹרָךְ</a:t>
            </a:r>
            <a:r>
              <a:rPr lang="en-US" sz="4500" dirty="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 </a:t>
            </a:r>
            <a:r>
              <a:rPr lang="he-IL" sz="4500" dirty="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לְעוֹלָם וָעֶד!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/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בָּרְכוּ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199" b="1">
                <a:solidFill>
                  <a:srgbClr val="FFFFFF"/>
                </a:solidFill>
                <a:latin typeface="Calibri (MS)"/>
                <a:cs typeface="Calibri (MS)"/>
              </a:rPr>
              <a:t>Bar’chu</a:t>
            </a:r>
          </a:p>
        </p:txBody>
      </p:sp>
      <p:sp>
        <p:nvSpPr>
          <p:cNvPr id="17" name="Freeform 17"/>
          <p:cNvSpPr/>
          <p:nvPr/>
        </p:nvSpPr>
        <p:spPr>
          <a:xfrm>
            <a:off x="408659" y="8648677"/>
            <a:ext cx="13936542" cy="1395338"/>
          </a:xfrm>
          <a:custGeom>
            <a:avLst/>
            <a:gdLst/>
            <a:ahLst/>
            <a:cxnLst/>
            <a:rect l="l" t="t" r="r" b="b"/>
            <a:pathLst>
              <a:path w="13213907" h="1322987">
                <a:moveTo>
                  <a:pt x="0" y="0"/>
                </a:moveTo>
                <a:lnTo>
                  <a:pt x="13213907" y="0"/>
                </a:lnTo>
                <a:lnTo>
                  <a:pt x="13213907" y="1322987"/>
                </a:lnTo>
                <a:lnTo>
                  <a:pt x="0" y="1322987"/>
                </a:lnTo>
                <a:close/>
              </a:path>
            </a:pathLst>
          </a:custGeom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588600" y="9333636"/>
            <a:ext cx="13936542" cy="73283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/>
            <a:r>
              <a:rPr lang="en-US" sz="2799" dirty="0">
                <a:solidFill>
                  <a:srgbClr val="FFFFFF"/>
                </a:solidFill>
                <a:latin typeface="Calibri (MS)"/>
                <a:cs typeface="Calibri (MS)"/>
              </a:rPr>
              <a:t>Praise Adonai, to whom praise is due! Praise Adonai, to whom praise is due, now and forever!</a:t>
            </a:r>
          </a:p>
        </p:txBody>
      </p:sp>
      <p:sp>
        <p:nvSpPr>
          <p:cNvPr id="900" name="Service Nav"/>
          <p:cNvSpPr txBox="1"/>
          <p:nvPr/>
        </p:nvSpPr>
        <p:spPr>
          <a:xfrm>
            <a:off x="15167006" y="1024128"/>
            <a:ext cx="2807208" cy="5303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200"/>
              </a:lnSpc>
            </a:pPr>
            <a:r>
              <a:rPr lang="en-US" sz="1800" b="1">
                <a:solidFill>
                  <a:srgbClr val="B8E3E6"/>
                </a:solidFill>
                <a:latin typeface="Calibri (MS)"/>
                <a:cs typeface="Calibri (MS)"/>
              </a:rPr>
              <a:t>‣ Opening</a:t>
            </a:r>
          </a:p>
          <a:p>
            <a:pPr algn="l">
              <a:lnSpc>
                <a:spcPts val="2200"/>
              </a:lnSpc>
            </a:pPr>
            <a:r>
              <a:rPr lang="en-US" sz="1800" b="1">
                <a:solidFill>
                  <a:srgbClr val="FFFFFF"/>
                </a:solidFill>
                <a:latin typeface="Calibri (MS)"/>
                <a:cs typeface="Calibri (MS)"/>
              </a:rPr>
              <a:t>▾ Sh'ma and Its Blessings</a:t>
            </a:r>
          </a:p>
          <a:p>
            <a:pPr marL="182880" indent="0" algn="l">
              <a:lnSpc>
                <a:spcPts val="2200"/>
              </a:lnSpc>
            </a:pPr>
            <a:r>
              <a:rPr lang="en-US" sz="1800" b="1">
                <a:solidFill>
                  <a:srgbClr val="FFFFFF"/>
                </a:solidFill>
                <a:latin typeface="Calibri (MS)"/>
                <a:cs typeface="Calibri (MS)"/>
              </a:rPr>
              <a:t>• Bar'chu</a:t>
            </a:r>
          </a:p>
          <a:p>
            <a:pPr marL="182880" indent="0" algn="l">
              <a:lnSpc>
                <a:spcPts val="2200"/>
              </a:lnSpc>
            </a:pPr>
            <a:r>
              <a:rPr lang="en-US" sz="1800">
                <a:solidFill>
                  <a:srgbClr val="B8E3E6"/>
                </a:solidFill>
                <a:latin typeface="Calibri (MS)"/>
                <a:cs typeface="Calibri (MS)"/>
              </a:rPr>
              <a:t>• Sh'ma</a:t>
            </a:r>
          </a:p>
          <a:p>
            <a:pPr marL="182880" indent="0" algn="l">
              <a:lnSpc>
                <a:spcPts val="2200"/>
              </a:lnSpc>
            </a:pPr>
            <a:r>
              <a:rPr lang="en-US" sz="1800">
                <a:solidFill>
                  <a:srgbClr val="B8E3E6"/>
                </a:solidFill>
                <a:latin typeface="Calibri (MS)"/>
                <a:cs typeface="Calibri (MS)"/>
              </a:rPr>
              <a:t>• V'ahavta</a:t>
            </a:r>
          </a:p>
          <a:p>
            <a:pPr marL="182880" indent="0" algn="l">
              <a:lnSpc>
                <a:spcPts val="2200"/>
              </a:lnSpc>
            </a:pPr>
            <a:r>
              <a:rPr lang="en-US" sz="1800">
                <a:solidFill>
                  <a:srgbClr val="B8E3E6"/>
                </a:solidFill>
                <a:latin typeface="Calibri (MS)"/>
                <a:cs typeface="Calibri (MS)"/>
              </a:rPr>
              <a:t>• Mi Chamochah</a:t>
            </a:r>
          </a:p>
          <a:p>
            <a:pPr algn="l">
              <a:lnSpc>
                <a:spcPts val="2200"/>
              </a:lnSpc>
            </a:pPr>
            <a:r>
              <a:rPr lang="en-US" sz="1800" b="1">
                <a:solidFill>
                  <a:srgbClr val="B8E3E6"/>
                </a:solidFill>
                <a:latin typeface="Calibri (MS)"/>
                <a:cs typeface="Calibri (MS)"/>
              </a:rPr>
              <a:t>‣ Amidah</a:t>
            </a:r>
          </a:p>
          <a:p>
            <a:pPr algn="l">
              <a:lnSpc>
                <a:spcPts val="2200"/>
              </a:lnSpc>
            </a:pPr>
            <a:r>
              <a:rPr lang="en-US" sz="1800" b="1">
                <a:solidFill>
                  <a:srgbClr val="B8E3E6"/>
                </a:solidFill>
                <a:latin typeface="Calibri (MS)"/>
                <a:cs typeface="Calibri (MS)"/>
              </a:rPr>
              <a:t>‣ The Blessings of Our Lives</a:t>
            </a:r>
          </a:p>
          <a:p>
            <a:pPr algn="l">
              <a:lnSpc>
                <a:spcPts val="2200"/>
              </a:lnSpc>
            </a:pPr>
            <a:r>
              <a:rPr lang="en-US" sz="1800" b="1">
                <a:solidFill>
                  <a:srgbClr val="B8E3E6"/>
                </a:solidFill>
                <a:latin typeface="Calibri (MS)"/>
                <a:cs typeface="Calibri (MS)"/>
              </a:rPr>
              <a:t>‣ Prayers of Welcome</a:t>
            </a:r>
          </a:p>
          <a:p>
            <a:pPr algn="l">
              <a:lnSpc>
                <a:spcPts val="2200"/>
              </a:lnSpc>
            </a:pPr>
            <a:r>
              <a:rPr lang="en-US" sz="1800" b="1">
                <a:solidFill>
                  <a:srgbClr val="B8E3E6"/>
                </a:solidFill>
                <a:latin typeface="Calibri (MS)"/>
                <a:cs typeface="Calibri (MS)"/>
              </a:rPr>
              <a:t>‣ Conclusion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565FF5-8E51-0B73-FF02-70872F9E1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938" y="6238298"/>
            <a:ext cx="1955800" cy="22701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6865</TotalTime>
  <Words>2633</Words>
  <Application>Microsoft Macintosh PowerPoint</Application>
  <PresentationFormat>Custom</PresentationFormat>
  <Paragraphs>603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David Libre</vt:lpstr>
      <vt:lpstr>Calibri (MS) Bold</vt:lpstr>
      <vt:lpstr>Calibri (MS)</vt:lpstr>
      <vt:lpstr>Pinata Marks Rough Shadow</vt:lpstr>
      <vt:lpstr>Times New Roman MT</vt:lpstr>
      <vt:lpstr>Helvetica Neue</vt:lpstr>
      <vt:lpstr>MF David</vt:lpstr>
      <vt:lpstr>Calibri</vt:lpstr>
      <vt:lpstr>TT Berlinerins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VT Template (in progress w Claude)</dc:title>
  <cp:lastModifiedBy>Rabbi Dan Medwin</cp:lastModifiedBy>
  <cp:revision>15</cp:revision>
  <dcterms:created xsi:type="dcterms:W3CDTF">2006-08-16T00:00:00Z</dcterms:created>
  <dcterms:modified xsi:type="dcterms:W3CDTF">2026-08-16T02:55:00Z</dcterms:modified>
  <dc:identifier>DAHN9QH9Lxk</dc:identifier>
</cp:coreProperties>
</file>
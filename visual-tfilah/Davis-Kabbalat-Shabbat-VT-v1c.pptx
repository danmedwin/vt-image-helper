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69" r:id="rId2"/>
    <p:sldId id="257" r:id="rId3"/>
    <p:sldId id="258" r:id="rId4"/>
    <p:sldId id="259" r:id="rId6"/>
    <p:sldId id="260" r:id="rId7"/>
    <p:sldId id="261" r:id="rId8"/>
    <p:sldId id="262" r:id="rId9"/>
    <p:sldId id="263" r:id="rId10"/>
    <p:sldId id="271" r:id="rId11"/>
    <p:sldId id="270" r:id="rId12"/>
    <p:sldId id="264" r:id="rId13"/>
    <p:sldId id="265" r:id="rId14"/>
    <p:sldId id="266" r:id="rId15"/>
    <p:sldId id="267" r:id="rId16"/>
  </p:sldIdLst>
  <p:sldSz cx="18288000" cy="10287000"/>
  <p:notesSz cx="6858000" cy="9144000"/>
  <p:embeddedFontLst>
    <p:embeddedFont>
      <p:font typeface="Calibri (MS)" panose="020F0502020204030204" pitchFamily="34" charset="0"/>
      <p:regular r:id="rId18"/>
    </p:embeddedFont>
    <p:embeddedFont>
      <p:font typeface="Calibri (MS) Bold" panose="020F0702030404030204" pitchFamily="34" charset="0"/>
      <p:regular r:id="rId19"/>
      <p:bold r:id="rId20"/>
    </p:embeddedFont>
    <p:embeddedFont>
      <p:font typeface="David Libre" pitchFamily="2" charset="-79"/>
      <p:regular r:id="rId21"/>
      <p:bold r:id="rId22"/>
    </p:embeddedFont>
    <p:embeddedFont>
      <p:font typeface="MF David" panose="02040603050201020203" pitchFamily="18" charset="-79"/>
      <p:regular r:id="rId23"/>
      <p:bold r:id="rId24"/>
    </p:embeddedFont>
    <p:embeddedFont>
      <p:font typeface="TT Berlinerins" panose="02000506040000020004" pitchFamily="2" charset="77"/>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F70"/>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7" autoAdjust="0"/>
    <p:restoredTop sz="94452" autoAdjust="0"/>
  </p:normalViewPr>
  <p:slideViewPr>
    <p:cSldViewPr>
      <p:cViewPr varScale="1">
        <p:scale>
          <a:sx n="75" d="100"/>
          <a:sy n="75" d="100"/>
        </p:scale>
        <p:origin x="-648" y="1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Intro - Bim Bam. Leader: Micah. Opening niggun welcoming Shabbat. Music: Nurit Hirsh.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Video. Leader: Cristy.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Last Word sharing, round 1. Micah facilitates.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Candle blessing. Amy lights.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Last Word sharing, round 2. Micah facilitates.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Kiddush, short form over wine. Leader: Dan Medwin. The Davis template also carries the full Kiddush if a longer version is wanted.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Last Word sharing, round 3. Micah facilitates.  DRAFT PROMPTS - replace with the prompts from the printed outline.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B9E6-756E-1AE3-8721-99FE8CD3F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E8B94-FD5A-1552-B70D-AF8D4639D894}"/>
              </a:ext>
            </a:extLst>
          </p:cNvPr>
          <p:cNvSpPr>
            <a:spLocks noGrp="1" noRot="1" noChangeAspect="1"/>
          </p:cNvSpPr>
          <p:nvPr>
            <p:ph type="sldImg" idx="2"/>
          </p:nvPr>
        </p:nvSpPr>
        <p:spPr>
          <a:xfrm>
            <a:off x="2290763" y="512763"/>
            <a:ext cx="4562475" cy="2566987"/>
          </a:xfrm>
        </p:spPr>
      </p:sp>
      <p:sp>
        <p:nvSpPr>
          <p:cNvPr id="3" name="Notes Placeholder 2">
            <a:extLst>
              <a:ext uri="{FF2B5EF4-FFF2-40B4-BE49-F238E27FC236}">
                <a16:creationId xmlns:a16="http://schemas.microsoft.com/office/drawing/2014/main" id="{B1BEA9F2-4543-FBDF-7CA9-3AA43FE829A0}"/>
              </a:ext>
            </a:extLst>
          </p:cNvPr>
          <p:cNvSpPr>
            <a:spLocks noGrp="1"/>
          </p:cNvSpPr>
          <p:nvPr>
            <p:ph type="body" sz="quarter" idx="3"/>
          </p:nvPr>
        </p:nvSpPr>
        <p:spPr/>
        <p:txBody>
          <a:bodyPr/>
          <a:lstStyle/>
          <a:p>
            <a:r>
              <a:rPr dirty="0"/>
              <a:t>Last Word sharing, round 3. Micah facilitates.  DRAFT PROMPTS - replace with the prompts from the printed outline.</a:t>
            </a:r>
          </a:p>
        </p:txBody>
      </p:sp>
      <p:sp>
        <p:nvSpPr>
          <p:cNvPr id="4" name="Slide Number Placeholder 3">
            <a:extLst>
              <a:ext uri="{FF2B5EF4-FFF2-40B4-BE49-F238E27FC236}">
                <a16:creationId xmlns:a16="http://schemas.microsoft.com/office/drawing/2014/main" id="{35EDFE5B-4FF0-4194-A860-0D6731CB9FCB}"/>
              </a:ext>
            </a:extLst>
          </p:cNvPr>
          <p:cNvSpPr>
            <a:spLocks noGrp="1"/>
          </p:cNvSpPr>
          <p:nvPr>
            <p:ph type="sldNum" sz="quarter" idx="5"/>
          </p:nvPr>
        </p:nvSpPr>
        <p:spPr/>
      </p:sp>
    </p:spTree>
    <p:extLst>
      <p:ext uri="{BB962C8B-B14F-4D97-AF65-F5344CB8AC3E}">
        <p14:creationId xmlns:p14="http://schemas.microsoft.com/office/powerpoint/2010/main" val="258497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Last Word sharing, round 2. Micah facilitates.  </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90383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Hamotzi, blessing over bread. Leader: Micah.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err="1"/>
              <a:t>Oseh</a:t>
            </a:r>
            <a:r>
              <a:rPr dirty="0"/>
              <a:t> Shalom. Leader: Micah.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Priestly Blessing, Numbers 6:24-26. Leaders: Micah, Javier, Michelle, and Emilie, one verse each with Micah leading.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Rocks slide. Leader: Micah. Content area left open - drop in the rocks image or text here.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Bim bam, bim bim bim bam,</a:t>
            </a:r>
          </a:p>
          <a:p>
            <a:pPr algn="l">
              <a:lnSpc>
                <a:spcPts val="5760"/>
              </a:lnSpc>
            </a:pPr>
            <a:r>
              <a:rPr lang="en-US" sz="3600">
                <a:solidFill>
                  <a:srgbClr val="FFFFFF"/>
                </a:solidFill>
                <a:latin typeface="Calibri (MS)"/>
                <a:ea typeface="Calibri (MS)"/>
                <a:cs typeface="Calibri (MS)"/>
                <a:sym typeface="Calibri (MS)"/>
              </a:rPr>
              <a:t>bim bim bim bim bim bam.</a:t>
            </a:r>
          </a:p>
          <a:p>
            <a:pPr algn="l">
              <a:lnSpc>
                <a:spcPts val="5760"/>
              </a:lnSpc>
            </a:pPr>
            <a:r>
              <a:rPr lang="en-US" sz="3600">
                <a:solidFill>
                  <a:srgbClr val="FFFFFF"/>
                </a:solidFill>
                <a:latin typeface="Calibri (MS)"/>
                <a:ea typeface="Calibri (MS)"/>
                <a:cs typeface="Calibri (MS)"/>
                <a:sym typeface="Calibri (MS)"/>
              </a:rPr>
              <a:t>Shabbat shalom!</a:t>
            </a:r>
          </a:p>
          <a:p>
            <a:pPr algn="l">
              <a:lnSpc>
                <a:spcPts val="5760"/>
              </a:lnSpc>
            </a:pPr>
            <a:r>
              <a:rPr lang="en-US" sz="3600">
                <a:solidFill>
                  <a:srgbClr val="FFFFFF"/>
                </a:solidFill>
                <a:latin typeface="Calibri (MS)"/>
                <a:ea typeface="Calibri (MS)"/>
                <a:cs typeface="Calibri (MS)"/>
                <a:sym typeface="Calibri (MS)"/>
              </a:rPr>
              <a:t>Shabbat, Shabbat, Shabbat,</a:t>
            </a:r>
          </a:p>
          <a:p>
            <a:pPr algn="l">
              <a:lnSpc>
                <a:spcPts val="5760"/>
              </a:lnSpc>
            </a:pPr>
            <a:r>
              <a:rPr lang="en-US" sz="3600">
                <a:solidFill>
                  <a:srgbClr val="FFFFFF"/>
                </a:solidFill>
                <a:latin typeface="Calibri (MS)"/>
                <a:ea typeface="Calibri (MS)"/>
                <a:cs typeface="Calibri (MS)"/>
                <a:sym typeface="Calibri (MS)"/>
              </a:rPr>
              <a:t>Shabbat shalom!</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בִּים בַּם, בִּים בִּים בִּים בַּם,</a:t>
            </a:r>
          </a:p>
          <a:p>
            <a:pPr algn="r" rtl="1">
              <a:lnSpc>
                <a:spcPts val="5760"/>
              </a:lnSpc>
            </a:pPr>
            <a:r>
              <a:rPr lang="he-IL" sz="4500" dirty="0">
                <a:solidFill>
                  <a:srgbClr val="FFFFFF"/>
                </a:solidFill>
                <a:latin typeface="David Libre"/>
                <a:ea typeface="David Libre"/>
                <a:cs typeface="David Libre"/>
                <a:sym typeface="David Libre"/>
                <a:rtl/>
              </a:rPr>
              <a:t>בִּים בִּים בִּים בִּים בִּים בַּם.</a:t>
            </a:r>
          </a:p>
          <a:p>
            <a:pPr algn="r" rtl="1">
              <a:lnSpc>
                <a:spcPts val="5760"/>
              </a:lnSpc>
            </a:pPr>
            <a:r>
              <a:rPr lang="he-IL" sz="4500" dirty="0">
                <a:solidFill>
                  <a:srgbClr val="FFFFFF"/>
                </a:solidFill>
                <a:latin typeface="David Libre"/>
                <a:ea typeface="David Libre"/>
                <a:cs typeface="David Libre"/>
                <a:sym typeface="David Libre"/>
                <a:rtl/>
              </a:rPr>
              <a:t>שַׁבָּת שָׁלוֹם!</a:t>
            </a:r>
          </a:p>
          <a:p>
            <a:pPr algn="r" rtl="1">
              <a:lnSpc>
                <a:spcPts val="5760"/>
              </a:lnSpc>
            </a:pPr>
            <a:r>
              <a:rPr lang="he-IL" sz="4500" dirty="0">
                <a:solidFill>
                  <a:srgbClr val="FFFFFF"/>
                </a:solidFill>
                <a:latin typeface="David Libre"/>
                <a:ea typeface="David Libre"/>
                <a:cs typeface="David Libre"/>
                <a:sym typeface="David Libre"/>
                <a:rtl/>
              </a:rPr>
              <a:t>שַׁבָּת, שַׁבָּת, שַׁבָּת,</a:t>
            </a:r>
          </a:p>
          <a:p>
            <a:pPr algn="r" rtl="1">
              <a:lnSpc>
                <a:spcPts val="5760"/>
              </a:lnSpc>
            </a:pPr>
            <a:r>
              <a:rPr lang="he-IL" sz="4500" dirty="0">
                <a:solidFill>
                  <a:srgbClr val="FFFFFF"/>
                </a:solidFill>
                <a:latin typeface="David Libre"/>
                <a:ea typeface="David Libre"/>
                <a:cs typeface="David Libre"/>
                <a:sym typeface="David Libre"/>
                <a:rtl/>
              </a:rPr>
              <a:t>שַׁבָּת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בִּים בַּם</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FFFFFF"/>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Bim Bam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9410700"/>
            <a:ext cx="13936542" cy="633315"/>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you have a peaceful Shabbat.</a:t>
            </a:r>
          </a:p>
        </p:txBody>
      </p:sp>
      <p:grpSp>
        <p:nvGrpSpPr>
          <p:cNvPr id="23" name="Group 22">
            <a:extLst>
              <a:ext uri="{FF2B5EF4-FFF2-40B4-BE49-F238E27FC236}">
                <a16:creationId xmlns:a16="http://schemas.microsoft.com/office/drawing/2014/main" id="{15CD95C3-9807-7365-94C2-3C46147E1EF9}"/>
              </a:ext>
            </a:extLst>
          </p:cNvPr>
          <p:cNvGrpSpPr/>
          <p:nvPr/>
        </p:nvGrpSpPr>
        <p:grpSpPr>
          <a:xfrm>
            <a:off x="3827922" y="5761347"/>
            <a:ext cx="8379991" cy="2683910"/>
            <a:chOff x="6527703" y="6146823"/>
            <a:chExt cx="3568797" cy="1143000"/>
          </a:xfrm>
        </p:grpSpPr>
        <p:pic>
          <p:nvPicPr>
            <p:cNvPr id="14" name="Picture 13">
              <a:extLst>
                <a:ext uri="{FF2B5EF4-FFF2-40B4-BE49-F238E27FC236}">
                  <a16:creationId xmlns:a16="http://schemas.microsoft.com/office/drawing/2014/main" id="{D70AE078-56C9-8DCC-5E2D-304D1C2C4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7703" y="6146823"/>
              <a:ext cx="736600" cy="1143000"/>
            </a:xfrm>
            <a:prstGeom prst="rect">
              <a:avLst/>
            </a:prstGeom>
          </p:spPr>
        </p:pic>
        <p:pic>
          <p:nvPicPr>
            <p:cNvPr id="20" name="Picture 19">
              <a:extLst>
                <a:ext uri="{FF2B5EF4-FFF2-40B4-BE49-F238E27FC236}">
                  <a16:creationId xmlns:a16="http://schemas.microsoft.com/office/drawing/2014/main" id="{6B32707A-602B-F8C5-9699-9ACD38F878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3801" y="6223023"/>
              <a:ext cx="609600" cy="1066800"/>
            </a:xfrm>
            <a:prstGeom prst="rect">
              <a:avLst/>
            </a:prstGeom>
          </p:spPr>
        </p:pic>
        <p:pic>
          <p:nvPicPr>
            <p:cNvPr id="22" name="Picture 21">
              <a:extLst>
                <a:ext uri="{FF2B5EF4-FFF2-40B4-BE49-F238E27FC236}">
                  <a16:creationId xmlns:a16="http://schemas.microsoft.com/office/drawing/2014/main" id="{805059E9-9C64-8D59-7E60-4693B6BBF4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9200" y="6438923"/>
              <a:ext cx="1257300" cy="635000"/>
            </a:xfrm>
            <a:prstGeom prst="rect">
              <a:avLst/>
            </a:prstGeom>
          </p:spPr>
        </p:pic>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11480" y="1020736"/>
            <a:ext cx="13990320" cy="6532220"/>
          </a:xfrm>
          <a:prstGeom prst="rect">
            <a:avLst/>
          </a:prstGeom>
        </p:spPr>
        <p:txBody>
          <a:bodyPr lIns="0" tIns="0" rIns="0" bIns="0" rtlCol="0" anchor="t">
            <a:spAutoFit/>
          </a:bodyPr>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endParaRP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FFFFFF"/>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Video</a:t>
            </a:r>
          </a:p>
        </p:txBody>
      </p:sp>
      <p:pic>
        <p:nvPicPr>
          <p:cNvPr id="14" name="Picture 13">
            <a:extLst>
              <a:ext uri="{FF2B5EF4-FFF2-40B4-BE49-F238E27FC236}">
                <a16:creationId xmlns:a16="http://schemas.microsoft.com/office/drawing/2014/main" id="{F966F8CD-87BF-F091-9C8B-2DEC600AE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0440" y="3295288"/>
            <a:ext cx="7772400" cy="4381852"/>
          </a:xfrm>
          <a:prstGeom prst="rect">
            <a:avLst/>
          </a:prstGeom>
        </p:spPr>
      </p:pic>
      <p:sp>
        <p:nvSpPr>
          <p:cNvPr id="16" name="Triangle 15">
            <a:extLst>
              <a:ext uri="{FF2B5EF4-FFF2-40B4-BE49-F238E27FC236}">
                <a16:creationId xmlns:a16="http://schemas.microsoft.com/office/drawing/2014/main" id="{D3304030-CB93-610C-1628-24328B164032}"/>
              </a:ext>
            </a:extLst>
          </p:cNvPr>
          <p:cNvSpPr/>
          <p:nvPr/>
        </p:nvSpPr>
        <p:spPr>
          <a:xfrm rot="5400000">
            <a:off x="6599335" y="4779841"/>
            <a:ext cx="1767840" cy="1524000"/>
          </a:xfrm>
          <a:prstGeom prst="triangle">
            <a:avLst/>
          </a:prstGeom>
          <a:solidFill>
            <a:srgbClr val="001F70">
              <a:alpha val="49609"/>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9">
            <a:extLst>
              <a:ext uri="{FF2B5EF4-FFF2-40B4-BE49-F238E27FC236}">
                <a16:creationId xmlns:a16="http://schemas.microsoft.com/office/drawing/2014/main" id="{D2C32024-8DAE-1941-CC91-765EA75FA1D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4"/>
            <a:stretch>
              <a:fillRect l="-1" t="-40454" r="-6154" b="-38543"/>
            </a:stretch>
          </a:blipFill>
        </p:spPr>
        <p:txBody>
          <a:bodyPr/>
          <a:lstStyle/>
          <a:p>
            <a:endParaRPr lang="en-US"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הַמִּלָּה הָאַחֲרוֹנָה</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FFFFFF"/>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Last Word</a:t>
            </a:r>
          </a:p>
        </p:txBody>
      </p:sp>
      <p:sp>
        <p:nvSpPr>
          <p:cNvPr id="4" name="Freeform 9">
            <a:extLst>
              <a:ext uri="{FF2B5EF4-FFF2-40B4-BE49-F238E27FC236}">
                <a16:creationId xmlns:a16="http://schemas.microsoft.com/office/drawing/2014/main" id="{CC01F4AF-0E2E-7A68-85F4-9B74081C0A85}"/>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v'tzivanu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l'hadlik</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FFFFFF"/>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הַמִּלָּה הָאַחֲרוֹנָה</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FFFFFF"/>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Last Word</a:t>
            </a:r>
          </a:p>
        </p:txBody>
      </p:sp>
      <p:sp>
        <p:nvSpPr>
          <p:cNvPr id="4" name="Freeform 9">
            <a:extLst>
              <a:ext uri="{FF2B5EF4-FFF2-40B4-BE49-F238E27FC236}">
                <a16:creationId xmlns:a16="http://schemas.microsoft.com/office/drawing/2014/main" id="{68282D08-CF6E-16F8-2083-CA968B45C11E}"/>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borei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p'ri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hagafen</a:t>
            </a:r>
            <a:r>
              <a:rPr lang="en-US" sz="3600" dirty="0">
                <a:solidFill>
                  <a:srgbClr val="FFFFFF"/>
                </a:solidFill>
                <a:latin typeface="Calibri (MS)"/>
                <a:ea typeface="Calibri (MS)"/>
                <a:cs typeface="Calibri (MS)"/>
                <a:sym typeface="Calibri (MS)"/>
              </a:rPr>
              <a:t>.</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FFFFFF"/>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7BEC5AF-DA4D-15C3-78A7-8E173F3F73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5135" y="4914900"/>
            <a:ext cx="1981200" cy="3467100"/>
          </a:xfrm>
          <a:prstGeom prst="rect">
            <a:avLst/>
          </a:prstGeom>
        </p:spPr>
      </p:pic>
      <p:sp>
        <p:nvSpPr>
          <p:cNvPr id="20" name="Progress Dots"/>
          <p:cNvSpPr txBox="1"/>
          <p:nvPr/>
        </p:nvSpPr>
        <p:spPr>
          <a:xfrm>
            <a:off x="7315200" y="64008"/>
            <a:ext cx="3657600" cy="557784"/>
          </a:xfrm>
          <a:prstGeom prst="rect">
            <a:avLst/>
          </a:prstGeom>
          <a:noFill/>
        </p:spPr>
        <p:txBody>
          <a:bodyPr wrap="none" anchor="ctr" lIns="0" rIns="0" tIns="0" bIns="0">
            <a:spAutoFit/>
          </a:bodyPr>
          <a:lstStyle/>
          <a:p>
            <a:pPr algn="ctr"/>
            <a:r>
              <a:rPr sz="2200">
                <a:solidFill>
                  <a:srgbClr val="FFFFFF"/>
                </a:solidFill>
                <a:latin typeface="Calibri (MS)"/>
              </a:rPr>
              <a:t>● ○ ○</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FFFFFF"/>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62C06A95-5B62-13FA-4FA5-F424ED7060A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398705"/>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 </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sp>
        <p:nvSpPr>
          <p:cNvPr id="22" name="Progress Dots"/>
          <p:cNvSpPr txBox="1"/>
          <p:nvPr/>
        </p:nvSpPr>
        <p:spPr>
          <a:xfrm>
            <a:off x="7315200" y="64008"/>
            <a:ext cx="3657600" cy="557784"/>
          </a:xfrm>
          <a:prstGeom prst="rect">
            <a:avLst/>
          </a:prstGeom>
          <a:noFill/>
        </p:spPr>
        <p:txBody>
          <a:bodyPr wrap="none" anchor="ctr" lIns="0" rIns="0" tIns="0" bIns="0">
            <a:spAutoFit/>
          </a:bodyPr>
          <a:lstStyle/>
          <a:p>
            <a:pPr algn="ctr"/>
            <a:r>
              <a:rPr sz="2200">
                <a:solidFill>
                  <a:srgbClr val="FFFFFF"/>
                </a:solidFill>
                <a:latin typeface="Calibri (MS)"/>
              </a:rPr>
              <a:t>○ ● ○</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a:extLst>
                <a:ext uri="{FF2B5EF4-FFF2-40B4-BE49-F238E27FC236}">
                  <a16:creationId xmlns:a16="http://schemas.microsoft.com/office/drawing/2014/main" id="{10E9320F-065E-DAB4-C672-308D11A2AD6B}"/>
                </a:ext>
              </a:extLst>
            </p:cNvPr>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E2EB1D0-0CD8-D784-0A88-3E30DC769EC8}"/>
              </a:ext>
            </a:extLst>
          </p:cNvPr>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FFFFFF"/>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900C3294-7F2B-AFEB-4160-0B34C543E7A8}"/>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142498"/>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zecher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litziat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Mitzrayim</a:t>
            </a:r>
            <a:r>
              <a:rPr lang="en-US" sz="3600" dirty="0">
                <a:solidFill>
                  <a:srgbClr val="FFFFFF"/>
                </a:solidFill>
                <a:latin typeface="Calibri (MS)"/>
                <a:ea typeface="Calibri (MS)"/>
                <a:cs typeface="Calibri (MS)"/>
                <a:sym typeface="Calibri (MS)"/>
              </a:rPr>
              <a:t>.</a:t>
            </a:r>
          </a:p>
          <a:p>
            <a:pPr algn="l">
              <a:lnSpc>
                <a:spcPts val="5760"/>
              </a:lnSpc>
            </a:pPr>
            <a:r>
              <a:rPr lang="en-US" sz="3600" dirty="0">
                <a:solidFill>
                  <a:srgbClr val="FFFFFF"/>
                </a:solidFill>
                <a:latin typeface="Calibri (MS)"/>
                <a:ea typeface="Calibri (MS)"/>
                <a:cs typeface="Calibri (MS)"/>
                <a:sym typeface="Calibri (MS)"/>
              </a:rPr>
              <a:t>Ki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vachar’ta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v’otanu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kidash’ta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mikol</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haamim</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kodshecha</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dirty="0">
                <a:solidFill>
                  <a:schemeClr val="bg1"/>
                </a:solidFill>
              </a:rPr>
              <a:t>Baruch </a:t>
            </a:r>
            <a:r>
              <a:rPr lang="en-US" dirty="0" err="1">
                <a:solidFill>
                  <a:schemeClr val="bg1"/>
                </a:solidFill>
              </a:rPr>
              <a:t>atah</a:t>
            </a:r>
            <a:r>
              <a:rPr lang="en-US" dirty="0">
                <a:solidFill>
                  <a:schemeClr val="bg1"/>
                </a:solidFill>
              </a:rPr>
              <a:t>, Adonai, </a:t>
            </a:r>
            <a:r>
              <a:rPr lang="en-US" dirty="0" err="1">
                <a:solidFill>
                  <a:schemeClr val="bg1"/>
                </a:solidFill>
              </a:rPr>
              <a:t>m’kadeish</a:t>
            </a:r>
            <a:r>
              <a:rPr lang="en-US" dirty="0">
                <a:solidFill>
                  <a:schemeClr val="bg1"/>
                </a:solidFill>
              </a:rPr>
              <a:t> </a:t>
            </a:r>
            <a:r>
              <a:rPr lang="en-US" dirty="0" err="1">
                <a:solidFill>
                  <a:schemeClr val="bg1"/>
                </a:solidFill>
              </a:rPr>
              <a:t>HaShabbat</a:t>
            </a:r>
            <a:r>
              <a:rPr lang="en-US" dirty="0">
                <a:solidFill>
                  <a:schemeClr val="bg1"/>
                </a:solidFill>
              </a:rPr>
              <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sp>
        <p:nvSpPr>
          <p:cNvPr id="23" name="Progress Dots"/>
          <p:cNvSpPr txBox="1"/>
          <p:nvPr/>
        </p:nvSpPr>
        <p:spPr>
          <a:xfrm>
            <a:off x="7315200" y="64008"/>
            <a:ext cx="3657600" cy="557784"/>
          </a:xfrm>
          <a:prstGeom prst="rect">
            <a:avLst/>
          </a:prstGeom>
          <a:noFill/>
        </p:spPr>
        <p:txBody>
          <a:bodyPr wrap="none" anchor="ctr" lIns="0" rIns="0" tIns="0" bIns="0">
            <a:spAutoFit/>
          </a:bodyPr>
          <a:lstStyle/>
          <a:p>
            <a:pPr algn="ctr"/>
            <a:r>
              <a:rPr sz="2200">
                <a:solidFill>
                  <a:srgbClr val="FFFFFF"/>
                </a:solidFill>
                <a:latin typeface="Calibri (MS)"/>
              </a:rPr>
              <a:t>○ ○ ●</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הַמִּלָּה הָאַחֲרוֹנָה</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FFFFFF"/>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Last Word</a:t>
            </a:r>
          </a:p>
        </p:txBody>
      </p:sp>
      <p:sp>
        <p:nvSpPr>
          <p:cNvPr id="4" name="Freeform 9">
            <a:extLst>
              <a:ext uri="{FF2B5EF4-FFF2-40B4-BE49-F238E27FC236}">
                <a16:creationId xmlns:a16="http://schemas.microsoft.com/office/drawing/2014/main" id="{68282D08-CF6E-16F8-2083-CA968B45C11E}"/>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Tree>
    <p:extLst>
      <p:ext uri="{BB962C8B-B14F-4D97-AF65-F5344CB8AC3E}">
        <p14:creationId xmlns:p14="http://schemas.microsoft.com/office/powerpoint/2010/main" val="197071471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FFFFFF"/>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3654911"/>
          </a:xfrm>
          <a:prstGeom prst="rect">
            <a:avLst/>
          </a:prstGeom>
        </p:spPr>
        <p:txBody>
          <a:bodyPr lIns="0" tIns="0" rIns="0" bIns="0" rtlCol="0" anchor="t">
            <a:spAutoFit/>
          </a:bodyPr>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dirty="0">
                <a:solidFill>
                  <a:srgbClr val="FFFFFF"/>
                </a:solidFill>
                <a:latin typeface="Calibri (MS)"/>
                <a:ea typeface="Calibri (MS)"/>
                <a:cs typeface="Calibri (MS)"/>
                <a:sym typeface="Calibri (MS)"/>
              </a:rPr>
              <a:t>hu </a:t>
            </a:r>
            <a:r>
              <a:rPr lang="en-US" sz="3600" dirty="0" err="1">
                <a:solidFill>
                  <a:srgbClr val="FFFFFF"/>
                </a:solidFill>
                <a:latin typeface="Calibri (MS)"/>
                <a:ea typeface="Calibri (MS)"/>
                <a:cs typeface="Calibri (MS)"/>
                <a:sym typeface="Calibri (MS)"/>
              </a:rPr>
              <a:t>ya'aseh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aleinu</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v'al</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kol</a:t>
            </a:r>
            <a:r>
              <a:rPr lang="en-US" sz="3600" dirty="0">
                <a:solidFill>
                  <a:srgbClr val="FFFFFF"/>
                </a:solidFill>
                <a:latin typeface="Calibri (MS)"/>
                <a:ea typeface="Calibri (MS)"/>
                <a:cs typeface="Calibri (MS)"/>
                <a:sym typeface="Calibri (MS)"/>
              </a:rPr>
              <a:t> Yisrael,</a:t>
            </a:r>
          </a:p>
          <a:p>
            <a:pPr algn="l">
              <a:lnSpc>
                <a:spcPts val="5760"/>
              </a:lnSpc>
            </a:pPr>
            <a:r>
              <a:rPr lang="en-US" sz="3600" dirty="0" err="1">
                <a:solidFill>
                  <a:schemeClr val="tx1">
                    <a:lumMod val="50000"/>
                    <a:lumOff val="50000"/>
                  </a:schemeClr>
                </a:solidFill>
                <a:latin typeface="Calibri (MS)"/>
                <a:ea typeface="Calibri (MS)"/>
                <a:cs typeface="Calibri (MS)"/>
                <a:sym typeface="Calibri (MS)"/>
              </a:rPr>
              <a:t>v'al</a:t>
            </a:r>
            <a:r>
              <a:rPr lang="en-US" sz="3600" dirty="0">
                <a:solidFill>
                  <a:schemeClr val="tx1">
                    <a:lumMod val="50000"/>
                    <a:lumOff val="50000"/>
                  </a:schemeClr>
                </a:solidFill>
                <a:latin typeface="Calibri (MS)"/>
                <a:ea typeface="Calibri (MS)"/>
                <a:cs typeface="Calibri (MS)"/>
                <a:sym typeface="Calibri (MS)"/>
              </a:rPr>
              <a:t> </a:t>
            </a:r>
            <a:r>
              <a:rPr lang="en-US" sz="3600" dirty="0" err="1">
                <a:solidFill>
                  <a:schemeClr val="tx1">
                    <a:lumMod val="50000"/>
                    <a:lumOff val="50000"/>
                  </a:schemeClr>
                </a:solidFill>
                <a:latin typeface="Calibri (MS)"/>
                <a:ea typeface="Calibri (MS)"/>
                <a:cs typeface="Calibri (MS)"/>
                <a:sym typeface="Calibri (MS)"/>
              </a:rPr>
              <a:t>kol</a:t>
            </a:r>
            <a:r>
              <a:rPr lang="en-US" sz="3600" dirty="0">
                <a:solidFill>
                  <a:schemeClr val="tx1">
                    <a:lumMod val="50000"/>
                    <a:lumOff val="50000"/>
                  </a:schemeClr>
                </a:solidFill>
                <a:latin typeface="Calibri (MS)"/>
                <a:ea typeface="Calibri (MS)"/>
                <a:cs typeface="Calibri (MS)"/>
                <a:sym typeface="Calibri (MS)"/>
              </a:rPr>
              <a:t> </a:t>
            </a:r>
            <a:r>
              <a:rPr lang="en-US" sz="3600" dirty="0" err="1">
                <a:solidFill>
                  <a:schemeClr val="tx1">
                    <a:lumMod val="50000"/>
                    <a:lumOff val="50000"/>
                  </a:schemeClr>
                </a:solidFill>
                <a:latin typeface="Calibri (MS)"/>
                <a:ea typeface="Calibri (MS)"/>
                <a:cs typeface="Calibri (MS)"/>
                <a:sym typeface="Calibri (MS)"/>
              </a:rPr>
              <a:t>yosh'vei</a:t>
            </a:r>
            <a:r>
              <a:rPr lang="en-US" sz="3600" dirty="0">
                <a:solidFill>
                  <a:schemeClr val="tx1">
                    <a:lumMod val="50000"/>
                    <a:lumOff val="50000"/>
                  </a:schemeClr>
                </a:solidFill>
                <a:latin typeface="Calibri (MS)"/>
                <a:ea typeface="Calibri (MS)"/>
                <a:cs typeface="Calibri (MS)"/>
                <a:sym typeface="Calibri (MS)"/>
              </a:rPr>
              <a:t> </a:t>
            </a:r>
            <a:r>
              <a:rPr lang="en-US" sz="3600" dirty="0" err="1">
                <a:solidFill>
                  <a:schemeClr val="tx1">
                    <a:lumMod val="50000"/>
                    <a:lumOff val="50000"/>
                  </a:schemeClr>
                </a:solidFill>
                <a:latin typeface="Calibri (MS)"/>
                <a:ea typeface="Calibri (MS)"/>
                <a:cs typeface="Calibri (MS)"/>
                <a:sym typeface="Calibri (MS)"/>
              </a:rPr>
              <a:t>teiveil</a:t>
            </a:r>
            <a:r>
              <a:rPr lang="en-US" sz="3600" dirty="0">
                <a:solidFill>
                  <a:schemeClr val="tx1">
                    <a:lumMod val="50000"/>
                    <a:lumOff val="50000"/>
                  </a:schemeClr>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v'imru</a:t>
            </a:r>
            <a:r>
              <a:rPr lang="en-US" sz="3600" dirty="0">
                <a:solidFill>
                  <a:srgbClr val="FFFFFF"/>
                </a:solidFill>
                <a:latin typeface="Calibri (MS)"/>
                <a:ea typeface="Calibri (MS)"/>
                <a:cs typeface="Calibri (MS)"/>
                <a:sym typeface="Calibri (MS)"/>
              </a:rPr>
              <a:t>: Amen.</a:t>
            </a:r>
          </a:p>
        </p:txBody>
      </p:sp>
      <p:sp>
        <p:nvSpPr>
          <p:cNvPr id="11" name="TextBox 11"/>
          <p:cNvSpPr txBox="1"/>
          <p:nvPr/>
        </p:nvSpPr>
        <p:spPr>
          <a:xfrm>
            <a:off x="8665588" y="1095006"/>
            <a:ext cx="5794490" cy="3684855"/>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chemeClr val="tx1">
                    <a:lumMod val="50000"/>
                    <a:lumOff val="50000"/>
                  </a:schemeClr>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FFFFFF"/>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3969100"/>
          </a:xfrm>
          <a:prstGeom prst="rect">
            <a:avLst/>
          </a:prstGeom>
        </p:spPr>
        <p:txBody>
          <a:bodyPr lIns="0" tIns="0" rIns="0" bIns="0" rtlCol="0" anchor="t">
            <a:spAutoFit/>
          </a:bodyPr>
          <a:lstStyle/>
          <a:p>
            <a:pPr algn="l">
              <a:lnSpc>
                <a:spcPts val="8000"/>
              </a:lnSpc>
            </a:pPr>
            <a:r>
              <a:rPr lang="en-US" sz="3600" dirty="0" err="1">
                <a:solidFill>
                  <a:srgbClr val="FFFFFF"/>
                </a:solidFill>
                <a:latin typeface="Calibri (MS)"/>
                <a:ea typeface="Calibri (MS)"/>
                <a:cs typeface="Calibri (MS)"/>
                <a:sym typeface="Calibri (MS)"/>
              </a:rPr>
              <a:t>Y'varech'cha</a:t>
            </a:r>
            <a:r>
              <a:rPr lang="en-US" sz="3600" dirty="0">
                <a:solidFill>
                  <a:srgbClr val="FFFFFF"/>
                </a:solidFill>
                <a:latin typeface="Calibri (MS)"/>
                <a:ea typeface="Calibri (MS)"/>
                <a:cs typeface="Calibri (MS)"/>
                <a:sym typeface="Calibri (MS)"/>
              </a:rPr>
              <a:t> Adonai </a:t>
            </a:r>
            <a:r>
              <a:rPr lang="en-US" sz="3600" dirty="0" err="1">
                <a:solidFill>
                  <a:srgbClr val="FFFFFF"/>
                </a:solidFill>
                <a:latin typeface="Calibri (MS)"/>
                <a:ea typeface="Calibri (MS)"/>
                <a:cs typeface="Calibri (MS)"/>
                <a:sym typeface="Calibri (MS)"/>
              </a:rPr>
              <a:t>v'yishm'recha</a:t>
            </a:r>
            <a:r>
              <a:rPr lang="en-US" sz="3600" dirty="0">
                <a:solidFill>
                  <a:srgbClr val="FFFFFF"/>
                </a:solidFill>
                <a:latin typeface="Calibri (MS)"/>
                <a:ea typeface="Calibri (MS)"/>
                <a:cs typeface="Calibri (MS)"/>
                <a:sym typeface="Calibri (MS)"/>
              </a:rPr>
              <a:t>.</a:t>
            </a:r>
          </a:p>
          <a:p>
            <a:pPr algn="l">
              <a:lnSpc>
                <a:spcPts val="8000"/>
              </a:lnSpc>
            </a:pPr>
            <a:r>
              <a:rPr lang="en-US" sz="3600" dirty="0" err="1">
                <a:solidFill>
                  <a:srgbClr val="FFFFFF"/>
                </a:solidFill>
                <a:latin typeface="Calibri (MS)"/>
                <a:ea typeface="Calibri (MS)"/>
                <a:cs typeface="Calibri (MS)"/>
                <a:sym typeface="Calibri (MS)"/>
              </a:rPr>
              <a:t>Ya'er</a:t>
            </a:r>
            <a:r>
              <a:rPr lang="en-US" sz="3600" dirty="0">
                <a:solidFill>
                  <a:srgbClr val="FFFFFF"/>
                </a:solidFill>
                <a:latin typeface="Calibri (MS)"/>
                <a:ea typeface="Calibri (MS)"/>
                <a:cs typeface="Calibri (MS)"/>
                <a:sym typeface="Calibri (MS)"/>
              </a:rPr>
              <a:t>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vichuneka</a:t>
            </a:r>
            <a:r>
              <a:rPr lang="en-US" sz="3600" dirty="0">
                <a:solidFill>
                  <a:srgbClr val="FFFFFF"/>
                </a:solidFill>
                <a:latin typeface="Calibri (MS)"/>
                <a:ea typeface="Calibri (MS)"/>
                <a:cs typeface="Calibri (MS)"/>
                <a:sym typeface="Calibri (MS)"/>
              </a:rPr>
              <a:t>.</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dirty="0" err="1">
                <a:solidFill>
                  <a:srgbClr val="FFFFFF"/>
                </a:solidFill>
                <a:latin typeface="Calibri (MS)"/>
                <a:ea typeface="Calibri (MS)"/>
                <a:cs typeface="Calibri (MS)"/>
                <a:sym typeface="Calibri (MS)"/>
              </a:rPr>
              <a:t>v'yasem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l'cha</a:t>
            </a:r>
            <a:r>
              <a:rPr lang="en-US" sz="3600" dirty="0">
                <a:solidFill>
                  <a:srgbClr val="FFFFFF"/>
                </a:solidFill>
                <a:latin typeface="Calibri (MS)"/>
                <a:ea typeface="Calibri (MS)"/>
                <a:cs typeface="Calibri (MS)"/>
                <a:sym typeface="Calibri (MS)"/>
              </a:rPr>
              <a:t> shalom.</a:t>
            </a:r>
          </a:p>
        </p:txBody>
      </p:sp>
      <p:sp>
        <p:nvSpPr>
          <p:cNvPr id="11" name="TextBox 11"/>
          <p:cNvSpPr txBox="1"/>
          <p:nvPr/>
        </p:nvSpPr>
        <p:spPr>
          <a:xfrm>
            <a:off x="8665588" y="992057"/>
            <a:ext cx="5794490" cy="3999043"/>
          </a:xfrm>
          <a:prstGeom prst="rect">
            <a:avLst/>
          </a:prstGeom>
        </p:spPr>
        <p:txBody>
          <a:bodyPr lIns="0" tIns="0" rIns="0" bIns="0" rtlCol="0" anchor="t">
            <a:spAutoFit/>
          </a:bodyPr>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err="1">
                <a:solidFill>
                  <a:srgbClr val="FFFFFF"/>
                </a:solidFill>
                <a:latin typeface="David Libre"/>
                <a:ea typeface="David Libre"/>
                <a:cs typeface="David Libre"/>
                <a:sym typeface="David Libre"/>
                <a:rtl/>
              </a:rPr>
              <a:t>יָאֵר</a:t>
            </a:r>
            <a:r>
              <a:rPr lang="he-IL" sz="4500" dirty="0">
                <a:solidFill>
                  <a:srgbClr val="FFFFFF"/>
                </a:solidFill>
                <a:latin typeface="David Libre"/>
                <a:ea typeface="David Libre"/>
                <a:cs typeface="David Libre"/>
                <a:sym typeface="David Libre"/>
                <a:rtl/>
              </a:rPr>
              <a:t> 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err="1">
                <a:solidFill>
                  <a:srgbClr val="FFFFFF"/>
                </a:solidFill>
                <a:latin typeface="David Libre"/>
                <a:ea typeface="David Libre"/>
                <a:cs typeface="David Libre"/>
                <a:sym typeface="David Libre"/>
                <a:rtl/>
              </a:rPr>
              <a:t>יִשָּׂא</a:t>
            </a:r>
            <a:r>
              <a:rPr lang="he-IL" sz="4500" dirty="0">
                <a:solidFill>
                  <a:srgbClr val="FFFFFF"/>
                </a:solidFill>
                <a:latin typeface="David Libre"/>
                <a:ea typeface="David Libre"/>
                <a:cs typeface="David Libre"/>
                <a:sym typeface="David Libre"/>
                <a:rtl/>
              </a:rPr>
              <a:t>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FFFFFF"/>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11480" y="1020736"/>
            <a:ext cx="13990320" cy="6532220"/>
          </a:xfrm>
          <a:prstGeom prst="rect">
            <a:avLst/>
          </a:prstGeom>
        </p:spPr>
        <p:txBody>
          <a:bodyPr lIns="0" tIns="0" rIns="0" bIns="0" rtlCol="0" anchor="t">
            <a:spAutoFit/>
          </a:bodyPr>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FFFFFF"/>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6601</TotalTime>
  <Words>967</Words>
  <Application>Microsoft Macintosh PowerPoint</Application>
  <PresentationFormat>Custom</PresentationFormat>
  <Paragraphs>239</Paragraphs>
  <Slides>15</Slides>
  <Notes>14</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David Libre</vt:lpstr>
      <vt:lpstr>Calibri</vt:lpstr>
      <vt:lpstr>Arial</vt:lpstr>
      <vt:lpstr>MF David</vt:lpstr>
      <vt:lpstr>Helvetica Neue</vt:lpstr>
      <vt:lpstr>Calibri (MS)</vt:lpstr>
      <vt:lpstr>Calibri (MS) Bold</vt:lpstr>
      <vt:lpstr>TT Berlinerins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17</cp:revision>
  <dcterms:created xsi:type="dcterms:W3CDTF">2006-08-16T00:00:00Z</dcterms:created>
  <dcterms:modified xsi:type="dcterms:W3CDTF">2026-08-14T16:22:28Z</dcterms:modified>
  <dc:identifier>DAHN9QH9Lxk</dc:identifier>
</cp:coreProperties>
</file>